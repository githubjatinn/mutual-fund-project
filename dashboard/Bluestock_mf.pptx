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Inter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InterSemiBold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c0ebcf31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c0ebcf31c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c0ebcf31c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ec0ebcf31c_2_8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c0ebcf31c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c0ebcf31c_2_8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c0ebcf31c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c0ebcf31c_2_9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c0ebcf31c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ec0ebcf31c_2_9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c0ebcf31c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ec0ebcf31c_2_10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c0ebcf31c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c0ebcf31c_2_10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c0ebcf31c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c0ebcf31c_2_11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Bluestock Mutual Fund Analytics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1028725" y="2945025"/>
            <a:ext cx="4800600" cy="1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GB">
                <a:solidFill>
                  <a:srgbClr val="888888"/>
                </a:solidFill>
              </a:rPr>
              <a:t>Capstone Presentation</a:t>
            </a:r>
            <a:endParaRPr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GB">
                <a:solidFill>
                  <a:srgbClr val="888888"/>
                </a:solidFill>
              </a:rPr>
              <a:t>Jatin</a:t>
            </a:r>
            <a:endParaRPr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GB">
                <a:solidFill>
                  <a:srgbClr val="888888"/>
                </a:solidFill>
              </a:rPr>
              <a:t>SPPU, Pune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27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143" name="Google Shape;143;p27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Project Overview</a:t>
              </a:r>
              <a:endParaRPr b="1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381000" y="90487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27"/>
          <p:cNvGrpSpPr/>
          <p:nvPr/>
        </p:nvGrpSpPr>
        <p:grpSpPr>
          <a:xfrm>
            <a:off x="381000" y="1524000"/>
            <a:ext cx="2667000" cy="3048000"/>
            <a:chOff x="381000" y="1524000"/>
            <a:chExt cx="2667000" cy="3048000"/>
          </a:xfrm>
        </p:grpSpPr>
        <p:sp>
          <p:nvSpPr>
            <p:cNvPr id="146" name="Google Shape;146;p27"/>
            <p:cNvSpPr/>
            <p:nvPr/>
          </p:nvSpPr>
          <p:spPr>
            <a:xfrm>
              <a:off x="381000" y="152400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7"/>
            <p:cNvSpPr txBox="1"/>
            <p:nvPr/>
          </p:nvSpPr>
          <p:spPr>
            <a:xfrm>
              <a:off x="57150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38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8" name="Google Shape;148;p27"/>
            <p:cNvSpPr txBox="1"/>
            <p:nvPr/>
          </p:nvSpPr>
          <p:spPr>
            <a:xfrm>
              <a:off x="571500" y="2238375"/>
              <a:ext cx="22860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Platform Scope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End-to-end mutual fund analytics platform designed for comprehensive data processing and visualization.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9" name="Google Shape;149;p27"/>
          <p:cNvGrpSpPr/>
          <p:nvPr/>
        </p:nvGrpSpPr>
        <p:grpSpPr>
          <a:xfrm>
            <a:off x="3238500" y="1524000"/>
            <a:ext cx="2667000" cy="3048000"/>
            <a:chOff x="3238500" y="1524000"/>
            <a:chExt cx="2667000" cy="3048000"/>
          </a:xfrm>
        </p:grpSpPr>
        <p:sp>
          <p:nvSpPr>
            <p:cNvPr id="150" name="Google Shape;150;p27"/>
            <p:cNvSpPr/>
            <p:nvPr/>
          </p:nvSpPr>
          <p:spPr>
            <a:xfrm>
              <a:off x="3238500" y="152400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 txBox="1"/>
            <p:nvPr/>
          </p:nvSpPr>
          <p:spPr>
            <a:xfrm>
              <a:off x="342900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dataset</a:t>
              </a:r>
              <a:endParaRPr sz="238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2" name="Google Shape;152;p27"/>
            <p:cNvSpPr txBox="1"/>
            <p:nvPr/>
          </p:nvSpPr>
          <p:spPr>
            <a:xfrm>
              <a:off x="3429000" y="2238375"/>
              <a:ext cx="22860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Data Scale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Monitoring performance across leading bluechip schemes.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b="0" lang="en-GB" sz="12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6 Bluechip Schemes</a:t>
              </a:r>
              <a:endParaRPr b="0" sz="12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200"/>
                <a:buFont typeface="Inter"/>
                <a:buChar char="●"/>
              </a:pPr>
              <a:r>
                <a:rPr b="0" lang="en-GB" sz="12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19,798 Records</a:t>
              </a:r>
              <a:endParaRPr b="0" sz="12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53" name="Google Shape;153;p27"/>
          <p:cNvGrpSpPr/>
          <p:nvPr/>
        </p:nvGrpSpPr>
        <p:grpSpPr>
          <a:xfrm>
            <a:off x="6096000" y="1524000"/>
            <a:ext cx="2667000" cy="3048000"/>
            <a:chOff x="6096000" y="1524000"/>
            <a:chExt cx="2667000" cy="3048000"/>
          </a:xfrm>
        </p:grpSpPr>
        <p:sp>
          <p:nvSpPr>
            <p:cNvPr id="154" name="Google Shape;154;p27"/>
            <p:cNvSpPr/>
            <p:nvPr/>
          </p:nvSpPr>
          <p:spPr>
            <a:xfrm>
              <a:off x="6096000" y="1524000"/>
              <a:ext cx="2667000" cy="3048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7"/>
            <p:cNvSpPr txBox="1"/>
            <p:nvPr/>
          </p:nvSpPr>
          <p:spPr>
            <a:xfrm>
              <a:off x="6286500" y="175539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construction</a:t>
              </a:r>
              <a:endParaRPr sz="238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6" name="Google Shape;156;p27"/>
            <p:cNvSpPr txBox="1"/>
            <p:nvPr/>
          </p:nvSpPr>
          <p:spPr>
            <a:xfrm>
              <a:off x="6286500" y="2238375"/>
              <a:ext cx="2286000" cy="21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Tech Stack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Built using industry-standard tools for data engineering and analysis.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475569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Python</a:t>
              </a:r>
              <a:r>
                <a:rPr lang="en-GB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GB" sz="1000">
                  <a:solidFill>
                    <a:srgbClr val="475569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SQLite</a:t>
              </a:r>
              <a:r>
                <a:rPr lang="en-GB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GB" sz="1000">
                  <a:solidFill>
                    <a:srgbClr val="475569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Power BI</a:t>
              </a:r>
              <a:r>
                <a:rPr lang="en-GB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GB" sz="1000">
                  <a:solidFill>
                    <a:srgbClr val="475569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Jupyter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163" name="Google Shape;163;p28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Data Pipeline</a:t>
              </a:r>
              <a:endParaRPr b="1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381000" y="90487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" name="Google Shape;165;p28"/>
          <p:cNvGrpSpPr/>
          <p:nvPr/>
        </p:nvGrpSpPr>
        <p:grpSpPr>
          <a:xfrm>
            <a:off x="381000" y="1524000"/>
            <a:ext cx="2667000" cy="2857500"/>
            <a:chOff x="381000" y="1524000"/>
            <a:chExt cx="2667000" cy="2857500"/>
          </a:xfrm>
        </p:grpSpPr>
        <p:sp>
          <p:nvSpPr>
            <p:cNvPr id="166" name="Google Shape;166;p28"/>
            <p:cNvSpPr/>
            <p:nvPr/>
          </p:nvSpPr>
          <p:spPr>
            <a:xfrm>
              <a:off x="381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8"/>
            <p:cNvSpPr txBox="1"/>
            <p:nvPr/>
          </p:nvSpPr>
          <p:spPr>
            <a:xfrm>
              <a:off x="5715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cloud_download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8" name="Google Shape;168;p28"/>
            <p:cNvSpPr txBox="1"/>
            <p:nvPr/>
          </p:nvSpPr>
          <p:spPr>
            <a:xfrm>
              <a:off x="571500" y="2190750"/>
              <a:ext cx="2286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Ingestion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Live NAV data is programmatically fetched from the mfapi.in endpoint.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28"/>
          <p:cNvGrpSpPr/>
          <p:nvPr/>
        </p:nvGrpSpPr>
        <p:grpSpPr>
          <a:xfrm>
            <a:off x="3238500" y="1524000"/>
            <a:ext cx="2667000" cy="2857500"/>
            <a:chOff x="3238500" y="1524000"/>
            <a:chExt cx="2667000" cy="2857500"/>
          </a:xfrm>
        </p:grpSpPr>
        <p:sp>
          <p:nvSpPr>
            <p:cNvPr id="170" name="Google Shape;170;p28"/>
            <p:cNvSpPr/>
            <p:nvPr/>
          </p:nvSpPr>
          <p:spPr>
            <a:xfrm>
              <a:off x="32385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34290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2" name="Google Shape;172;p28"/>
            <p:cNvSpPr txBox="1"/>
            <p:nvPr/>
          </p:nvSpPr>
          <p:spPr>
            <a:xfrm>
              <a:off x="3429000" y="2190750"/>
              <a:ext cx="2286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Coverage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Monitoring 6 key mutual fund schemes: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Inter"/>
                <a:buChar char="●"/>
              </a:pPr>
              <a:r>
                <a:rPr b="0" lang="en-GB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HDFC &amp; SBI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Inter"/>
                <a:buChar char="●"/>
              </a:pPr>
              <a:r>
                <a:rPr b="0" lang="en-GB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ICICI &amp; Kotak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Inter"/>
                <a:buChar char="●"/>
              </a:pPr>
              <a:r>
                <a:rPr b="0" lang="en-GB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Nippon &amp; Axis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73" name="Google Shape;173;p28"/>
          <p:cNvGrpSpPr/>
          <p:nvPr/>
        </p:nvGrpSpPr>
        <p:grpSpPr>
          <a:xfrm>
            <a:off x="6096000" y="1524000"/>
            <a:ext cx="2667000" cy="2857500"/>
            <a:chOff x="6096000" y="1524000"/>
            <a:chExt cx="2667000" cy="2857500"/>
          </a:xfrm>
        </p:grpSpPr>
        <p:sp>
          <p:nvSpPr>
            <p:cNvPr id="174" name="Google Shape;174;p28"/>
            <p:cNvSpPr/>
            <p:nvPr/>
          </p:nvSpPr>
          <p:spPr>
            <a:xfrm>
              <a:off x="6096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8"/>
            <p:cNvSpPr txBox="1"/>
            <p:nvPr/>
          </p:nvSpPr>
          <p:spPr>
            <a:xfrm>
              <a:off x="62865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6" name="Google Shape;176;p28"/>
            <p:cNvSpPr txBox="1"/>
            <p:nvPr/>
          </p:nvSpPr>
          <p:spPr>
            <a:xfrm>
              <a:off x="6286500" y="2190750"/>
              <a:ext cx="2286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Processing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ETL process includes cleaning, validation, and loading into a local SQLite database.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9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183" name="Google Shape;183;p29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EDA Findings</a:t>
              </a:r>
              <a:endParaRPr b="1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29"/>
            <p:cNvSpPr/>
            <p:nvPr/>
          </p:nvSpPr>
          <p:spPr>
            <a:xfrm>
              <a:off x="381000" y="90487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" name="Google Shape;185;p29"/>
          <p:cNvGrpSpPr/>
          <p:nvPr/>
        </p:nvGrpSpPr>
        <p:grpSpPr>
          <a:xfrm>
            <a:off x="381000" y="1524000"/>
            <a:ext cx="2667000" cy="2857500"/>
            <a:chOff x="381000" y="1524000"/>
            <a:chExt cx="2667000" cy="2857500"/>
          </a:xfrm>
        </p:grpSpPr>
        <p:sp>
          <p:nvSpPr>
            <p:cNvPr id="186" name="Google Shape;186;p29"/>
            <p:cNvSpPr/>
            <p:nvPr/>
          </p:nvSpPr>
          <p:spPr>
            <a:xfrm>
              <a:off x="381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9"/>
            <p:cNvSpPr txBox="1"/>
            <p:nvPr/>
          </p:nvSpPr>
          <p:spPr>
            <a:xfrm>
              <a:off x="5715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show_chart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8" name="Google Shape;188;p29"/>
            <p:cNvSpPr txBox="1"/>
            <p:nvPr/>
          </p:nvSpPr>
          <p:spPr>
            <a:xfrm>
              <a:off x="571500" y="2190750"/>
              <a:ext cx="2286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Growth Insight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Axis Bluechip demonstrated massive long-term growth.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₹10 → ₹6,156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(2012 - 2026)</a:t>
              </a:r>
              <a:endParaRPr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9" name="Google Shape;189;p29"/>
          <p:cNvGrpSpPr/>
          <p:nvPr/>
        </p:nvGrpSpPr>
        <p:grpSpPr>
          <a:xfrm>
            <a:off x="3238500" y="1524000"/>
            <a:ext cx="2667000" cy="2857500"/>
            <a:chOff x="3238500" y="1524000"/>
            <a:chExt cx="2667000" cy="2857500"/>
          </a:xfrm>
        </p:grpSpPr>
        <p:sp>
          <p:nvSpPr>
            <p:cNvPr id="190" name="Google Shape;190;p29"/>
            <p:cNvSpPr/>
            <p:nvPr/>
          </p:nvSpPr>
          <p:spPr>
            <a:xfrm>
              <a:off x="32385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9"/>
            <p:cNvSpPr txBox="1"/>
            <p:nvPr/>
          </p:nvSpPr>
          <p:spPr>
            <a:xfrm>
              <a:off x="34290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2" name="Google Shape;192;p29"/>
            <p:cNvSpPr txBox="1"/>
            <p:nvPr/>
          </p:nvSpPr>
          <p:spPr>
            <a:xfrm>
              <a:off x="3429000" y="2190750"/>
              <a:ext cx="2286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Market Correlation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Extremely high synchronization (0.98-0.99) between: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Inter"/>
                <a:buChar char="●"/>
              </a:pPr>
              <a:r>
                <a:rPr b="0" lang="en-GB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HDFC &amp; ICICI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29845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1E293B"/>
                </a:buClr>
                <a:buSzPts val="1100"/>
                <a:buFont typeface="Inter"/>
                <a:buChar char="●"/>
              </a:pPr>
              <a:r>
                <a:rPr b="0" lang="en-GB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Kotak &amp; Nippon</a:t>
              </a:r>
              <a:endParaRPr b="0" sz="11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93" name="Google Shape;193;p29"/>
          <p:cNvGrpSpPr/>
          <p:nvPr/>
        </p:nvGrpSpPr>
        <p:grpSpPr>
          <a:xfrm>
            <a:off x="6096000" y="1524000"/>
            <a:ext cx="2667000" cy="2857500"/>
            <a:chOff x="6096000" y="1524000"/>
            <a:chExt cx="2667000" cy="2857500"/>
          </a:xfrm>
        </p:grpSpPr>
        <p:sp>
          <p:nvSpPr>
            <p:cNvPr id="194" name="Google Shape;194;p29"/>
            <p:cNvSpPr/>
            <p:nvPr/>
          </p:nvSpPr>
          <p:spPr>
            <a:xfrm>
              <a:off x="6096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9"/>
            <p:cNvSpPr txBox="1"/>
            <p:nvPr/>
          </p:nvSpPr>
          <p:spPr>
            <a:xfrm>
              <a:off x="6286500" y="1749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coronavirus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6" name="Google Shape;196;p29"/>
            <p:cNvSpPr txBox="1"/>
            <p:nvPr/>
          </p:nvSpPr>
          <p:spPr>
            <a:xfrm>
              <a:off x="6286500" y="2190750"/>
              <a:ext cx="2286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Systemic Impact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-GB" sz="12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COVID 2020 crash</a:t>
              </a: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is a universal trend visible across every scheme analyzed in the dataset.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30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203" name="Google Shape;203;p30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Performance Rankings</a:t>
              </a:r>
              <a:endParaRPr b="1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381000" y="90487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p30"/>
          <p:cNvGrpSpPr/>
          <p:nvPr/>
        </p:nvGrpSpPr>
        <p:grpSpPr>
          <a:xfrm>
            <a:off x="381000" y="1524000"/>
            <a:ext cx="2667000" cy="2857500"/>
            <a:chOff x="381000" y="1524000"/>
            <a:chExt cx="2667000" cy="2857500"/>
          </a:xfrm>
        </p:grpSpPr>
        <p:sp>
          <p:nvSpPr>
            <p:cNvPr id="206" name="Google Shape;206;p30"/>
            <p:cNvSpPr/>
            <p:nvPr/>
          </p:nvSpPr>
          <p:spPr>
            <a:xfrm>
              <a:off x="381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0"/>
            <p:cNvSpPr txBox="1"/>
            <p:nvPr/>
          </p:nvSpPr>
          <p:spPr>
            <a:xfrm>
              <a:off x="571500" y="17876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emoji_events</a:t>
              </a:r>
              <a:endParaRPr b="0"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8" name="Google Shape;208;p30"/>
            <p:cNvSpPr txBox="1"/>
            <p:nvPr/>
          </p:nvSpPr>
          <p:spPr>
            <a:xfrm>
              <a:off x="571500" y="2190750"/>
              <a:ext cx="22860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Rank 1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HDFC Top100 Direct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Score: </a:t>
              </a:r>
              <a:r>
                <a:rPr b="1" lang="en-GB" sz="12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100/100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9" name="Google Shape;209;p30"/>
          <p:cNvGrpSpPr/>
          <p:nvPr/>
        </p:nvGrpSpPr>
        <p:grpSpPr>
          <a:xfrm>
            <a:off x="3238500" y="1524000"/>
            <a:ext cx="2667000" cy="2857500"/>
            <a:chOff x="3238500" y="1524000"/>
            <a:chExt cx="2667000" cy="2857500"/>
          </a:xfrm>
        </p:grpSpPr>
        <p:sp>
          <p:nvSpPr>
            <p:cNvPr id="210" name="Google Shape;210;p30"/>
            <p:cNvSpPr/>
            <p:nvPr/>
          </p:nvSpPr>
          <p:spPr>
            <a:xfrm>
              <a:off x="32385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0"/>
            <p:cNvSpPr txBox="1"/>
            <p:nvPr/>
          </p:nvSpPr>
          <p:spPr>
            <a:xfrm>
              <a:off x="3429000" y="17876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workspace_premium</a:t>
              </a:r>
              <a:endParaRPr b="0" sz="24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2" name="Google Shape;212;p30"/>
            <p:cNvSpPr txBox="1"/>
            <p:nvPr/>
          </p:nvSpPr>
          <p:spPr>
            <a:xfrm>
              <a:off x="3429000" y="2190750"/>
              <a:ext cx="22860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Rank 2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Kotak Bluechip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Score: </a:t>
              </a:r>
              <a:r>
                <a:rPr b="1" lang="en-GB" sz="12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86.7/100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30"/>
          <p:cNvGrpSpPr/>
          <p:nvPr/>
        </p:nvGrpSpPr>
        <p:grpSpPr>
          <a:xfrm>
            <a:off x="6096000" y="1524000"/>
            <a:ext cx="2667000" cy="2857500"/>
            <a:chOff x="6096000" y="1524000"/>
            <a:chExt cx="2667000" cy="2857500"/>
          </a:xfrm>
        </p:grpSpPr>
        <p:sp>
          <p:nvSpPr>
            <p:cNvPr id="214" name="Google Shape;214;p30"/>
            <p:cNvSpPr/>
            <p:nvPr/>
          </p:nvSpPr>
          <p:spPr>
            <a:xfrm>
              <a:off x="6096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0"/>
            <p:cNvSpPr txBox="1"/>
            <p:nvPr/>
          </p:nvSpPr>
          <p:spPr>
            <a:xfrm>
              <a:off x="6286500" y="17876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B4530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military_tech</a:t>
              </a:r>
              <a:endParaRPr b="0" sz="2400">
                <a:solidFill>
                  <a:srgbClr val="B4530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6" name="Google Shape;216;p30"/>
            <p:cNvSpPr txBox="1"/>
            <p:nvPr/>
          </p:nvSpPr>
          <p:spPr>
            <a:xfrm>
              <a:off x="6286500" y="2190750"/>
              <a:ext cx="22860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Rank 3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Nippon LargeCap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Score: </a:t>
              </a:r>
              <a:r>
                <a:rPr b="1" lang="en-GB" sz="12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81.1/100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1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223" name="Google Shape;223;p31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Risk Analysis</a:t>
              </a:r>
              <a:endParaRPr b="1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4" name="Google Shape;224;p31"/>
            <p:cNvSpPr/>
            <p:nvPr/>
          </p:nvSpPr>
          <p:spPr>
            <a:xfrm>
              <a:off x="381000" y="90487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31"/>
          <p:cNvGrpSpPr/>
          <p:nvPr/>
        </p:nvGrpSpPr>
        <p:grpSpPr>
          <a:xfrm>
            <a:off x="381000" y="1524000"/>
            <a:ext cx="2667000" cy="2857500"/>
            <a:chOff x="381000" y="1524000"/>
            <a:chExt cx="2667000" cy="2857500"/>
          </a:xfrm>
        </p:grpSpPr>
        <p:sp>
          <p:nvSpPr>
            <p:cNvPr id="226" name="Google Shape;226;p31"/>
            <p:cNvSpPr/>
            <p:nvPr/>
          </p:nvSpPr>
          <p:spPr>
            <a:xfrm>
              <a:off x="381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1"/>
            <p:cNvSpPr txBox="1"/>
            <p:nvPr/>
          </p:nvSpPr>
          <p:spPr>
            <a:xfrm>
              <a:off x="571500" y="1797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8" name="Google Shape;228;p31"/>
            <p:cNvSpPr txBox="1"/>
            <p:nvPr/>
          </p:nvSpPr>
          <p:spPr>
            <a:xfrm>
              <a:off x="571500" y="223837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Highest VaR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Nippon LargeCap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-1.59%</a:t>
              </a:r>
              <a:endParaRPr b="1" sz="180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Indicates higher potential for short-term loss compared to peers.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9" name="Google Shape;229;p31"/>
          <p:cNvGrpSpPr/>
          <p:nvPr/>
        </p:nvGrpSpPr>
        <p:grpSpPr>
          <a:xfrm>
            <a:off x="3238500" y="1524000"/>
            <a:ext cx="2667000" cy="2857500"/>
            <a:chOff x="3238500" y="1524000"/>
            <a:chExt cx="2667000" cy="2857500"/>
          </a:xfrm>
        </p:grpSpPr>
        <p:sp>
          <p:nvSpPr>
            <p:cNvPr id="230" name="Google Shape;230;p31"/>
            <p:cNvSpPr/>
            <p:nvPr/>
          </p:nvSpPr>
          <p:spPr>
            <a:xfrm>
              <a:off x="32385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1"/>
            <p:cNvSpPr txBox="1"/>
            <p:nvPr/>
          </p:nvSpPr>
          <p:spPr>
            <a:xfrm>
              <a:off x="3429000" y="1797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2" name="Google Shape;232;p31"/>
            <p:cNvSpPr txBox="1"/>
            <p:nvPr/>
          </p:nvSpPr>
          <p:spPr>
            <a:xfrm>
              <a:off x="3429000" y="223837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Lowest VaR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Axis Bluechip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~0%</a:t>
              </a:r>
              <a:endParaRPr b="1" sz="18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Demonstrates exceptional stability and lower risk profile.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3" name="Google Shape;233;p31"/>
          <p:cNvGrpSpPr/>
          <p:nvPr/>
        </p:nvGrpSpPr>
        <p:grpSpPr>
          <a:xfrm>
            <a:off x="6096000" y="1524000"/>
            <a:ext cx="2667000" cy="2857500"/>
            <a:chOff x="6096000" y="1524000"/>
            <a:chExt cx="2667000" cy="2857500"/>
          </a:xfrm>
        </p:grpSpPr>
        <p:sp>
          <p:nvSpPr>
            <p:cNvPr id="234" name="Google Shape;234;p31"/>
            <p:cNvSpPr/>
            <p:nvPr/>
          </p:nvSpPr>
          <p:spPr>
            <a:xfrm>
              <a:off x="6096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1"/>
            <p:cNvSpPr txBox="1"/>
            <p:nvPr/>
          </p:nvSpPr>
          <p:spPr>
            <a:xfrm>
              <a:off x="6286500" y="1797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6" name="Google Shape;236;p31"/>
            <p:cNvSpPr txBox="1"/>
            <p:nvPr/>
          </p:nvSpPr>
          <p:spPr>
            <a:xfrm>
              <a:off x="6286500" y="223837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Best Sharpe Ratio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HDFC Top100 Direct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1.091</a:t>
              </a:r>
              <a:endParaRPr b="1" sz="18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Highest risk-adjusted return relative to volatility.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32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243" name="Google Shape;243;p32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Recommendations</a:t>
              </a:r>
              <a:endParaRPr b="1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381000" y="90487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32"/>
          <p:cNvGrpSpPr/>
          <p:nvPr/>
        </p:nvGrpSpPr>
        <p:grpSpPr>
          <a:xfrm>
            <a:off x="381000" y="1524000"/>
            <a:ext cx="2667000" cy="2857500"/>
            <a:chOff x="381000" y="1524000"/>
            <a:chExt cx="2667000" cy="2857500"/>
          </a:xfrm>
        </p:grpSpPr>
        <p:sp>
          <p:nvSpPr>
            <p:cNvPr id="246" name="Google Shape;246;p32"/>
            <p:cNvSpPr/>
            <p:nvPr/>
          </p:nvSpPr>
          <p:spPr>
            <a:xfrm>
              <a:off x="381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2"/>
            <p:cNvSpPr txBox="1"/>
            <p:nvPr/>
          </p:nvSpPr>
          <p:spPr>
            <a:xfrm>
              <a:off x="571500" y="1797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8" name="Google Shape;248;p32"/>
            <p:cNvSpPr txBox="1"/>
            <p:nvPr/>
          </p:nvSpPr>
          <p:spPr>
            <a:xfrm>
              <a:off x="571500" y="223837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Conservative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Focus on capital preservation and stability.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Axis Bluechip</a:t>
              </a:r>
              <a:endParaRPr b="0" sz="14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49" name="Google Shape;249;p32"/>
          <p:cNvGrpSpPr/>
          <p:nvPr/>
        </p:nvGrpSpPr>
        <p:grpSpPr>
          <a:xfrm>
            <a:off x="3238500" y="1524000"/>
            <a:ext cx="2667000" cy="2857500"/>
            <a:chOff x="3238500" y="1524000"/>
            <a:chExt cx="2667000" cy="2857500"/>
          </a:xfrm>
        </p:grpSpPr>
        <p:sp>
          <p:nvSpPr>
            <p:cNvPr id="250" name="Google Shape;250;p32"/>
            <p:cNvSpPr/>
            <p:nvPr/>
          </p:nvSpPr>
          <p:spPr>
            <a:xfrm>
              <a:off x="32385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2"/>
            <p:cNvSpPr txBox="1"/>
            <p:nvPr/>
          </p:nvSpPr>
          <p:spPr>
            <a:xfrm>
              <a:off x="3429000" y="1797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2" name="Google Shape;252;p32"/>
            <p:cNvSpPr txBox="1"/>
            <p:nvPr/>
          </p:nvSpPr>
          <p:spPr>
            <a:xfrm>
              <a:off x="3429000" y="223837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Moderate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Balanced risk for consistent growth.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HDFC Top100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Kotak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Nippon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3" name="Google Shape;253;p32"/>
          <p:cNvGrpSpPr/>
          <p:nvPr/>
        </p:nvGrpSpPr>
        <p:grpSpPr>
          <a:xfrm>
            <a:off x="6096000" y="1524000"/>
            <a:ext cx="2667000" cy="2857500"/>
            <a:chOff x="6096000" y="1524000"/>
            <a:chExt cx="2667000" cy="2857500"/>
          </a:xfrm>
        </p:grpSpPr>
        <p:sp>
          <p:nvSpPr>
            <p:cNvPr id="254" name="Google Shape;254;p32"/>
            <p:cNvSpPr/>
            <p:nvPr/>
          </p:nvSpPr>
          <p:spPr>
            <a:xfrm>
              <a:off x="6096000" y="1524000"/>
              <a:ext cx="2667000" cy="2857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 txBox="1"/>
            <p:nvPr/>
          </p:nvSpPr>
          <p:spPr>
            <a:xfrm>
              <a:off x="6286500" y="1797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6" name="Google Shape;256;p32"/>
            <p:cNvSpPr txBox="1"/>
            <p:nvPr/>
          </p:nvSpPr>
          <p:spPr>
            <a:xfrm>
              <a:off x="6286500" y="223837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Aggressive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Higher risk tolerance for alpha generation.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HDFC Top100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Kotak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13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Nippon</a:t>
              </a:r>
              <a:endParaRPr b="0" sz="13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33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263" name="Google Shape;263;p33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6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rPr>
                <a:t>Thank You</a:t>
              </a:r>
              <a:endParaRPr b="1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4" name="Google Shape;264;p33"/>
            <p:cNvSpPr/>
            <p:nvPr/>
          </p:nvSpPr>
          <p:spPr>
            <a:xfrm>
              <a:off x="381000" y="904875"/>
              <a:ext cx="571500" cy="381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p33"/>
          <p:cNvGrpSpPr/>
          <p:nvPr/>
        </p:nvGrpSpPr>
        <p:grpSpPr>
          <a:xfrm>
            <a:off x="381000" y="1714500"/>
            <a:ext cx="8382000" cy="2667000"/>
            <a:chOff x="381000" y="1714500"/>
            <a:chExt cx="8382000" cy="2667000"/>
          </a:xfrm>
        </p:grpSpPr>
        <p:sp>
          <p:nvSpPr>
            <p:cNvPr id="266" name="Google Shape;266;p33"/>
            <p:cNvSpPr/>
            <p:nvPr/>
          </p:nvSpPr>
          <p:spPr>
            <a:xfrm>
              <a:off x="381000" y="1714500"/>
              <a:ext cx="83820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3"/>
            <p:cNvSpPr txBox="1"/>
            <p:nvPr/>
          </p:nvSpPr>
          <p:spPr>
            <a:xfrm>
              <a:off x="762000" y="2095500"/>
              <a:ext cx="7620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GitHub:</a:t>
              </a:r>
              <a:r>
                <a:rPr b="0" lang="en-GB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github.com/githubjatinn/mutual-fund-project</a:t>
              </a:r>
              <a:endParaRPr b="0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sell</a:t>
              </a: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Tag:</a:t>
              </a:r>
              <a:r>
                <a:rPr b="0" lang="en-GB" sz="1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v1.0</a:t>
              </a:r>
              <a:endParaRPr b="0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help_outline</a:t>
              </a:r>
              <a:r>
                <a:rPr b="1" lang="en-GB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Questions?</a:t>
              </a:r>
              <a:endParaRPr b="0" sz="1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